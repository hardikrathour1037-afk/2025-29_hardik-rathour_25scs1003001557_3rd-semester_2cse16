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8819" y="330301"/>
            <a:ext cx="10754360" cy="6012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1700" y="1124203"/>
            <a:ext cx="8028940" cy="2184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" y="457200"/>
            <a:ext cx="1051560" cy="112095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888" rIns="0" bIns="0" rtlCol="0" vert="horz">
            <a:spAutoFit/>
          </a:bodyPr>
          <a:lstStyle/>
          <a:p>
            <a:pPr marL="255397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IILM</a:t>
            </a:r>
            <a:r>
              <a:rPr dirty="0" sz="3200" spc="-35"/>
              <a:t> </a:t>
            </a:r>
            <a:r>
              <a:rPr dirty="0" sz="3200" spc="-10"/>
              <a:t>UNIVERSITY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2110600" y="945344"/>
            <a:ext cx="5183505" cy="451866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dirty="0" sz="2200" b="1">
                <a:latin typeface="Calibri"/>
                <a:cs typeface="Calibri"/>
              </a:rPr>
              <a:t>School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of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Computer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Science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and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Engineering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dirty="0" sz="2800" b="1">
                <a:latin typeface="Calibri"/>
                <a:cs typeface="Calibri"/>
              </a:rPr>
              <a:t>INTERNSHIP</a:t>
            </a:r>
            <a:r>
              <a:rPr dirty="0" sz="2800" spc="-11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PRESENTATION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25"/>
              </a:spcBef>
            </a:pPr>
            <a:r>
              <a:rPr dirty="0" sz="2400" b="1">
                <a:latin typeface="Calibri"/>
                <a:cs typeface="Calibri"/>
              </a:rPr>
              <a:t>Artificial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Intelligence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Internship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00"/>
              </a:spcBef>
            </a:pPr>
            <a:r>
              <a:rPr dirty="0" sz="2400">
                <a:latin typeface="Calibri"/>
                <a:cs typeface="Calibri"/>
              </a:rPr>
              <a:t>Hardik</a:t>
            </a:r>
            <a:r>
              <a:rPr dirty="0" sz="2400" spc="445"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020303"/>
                </a:solidFill>
                <a:latin typeface="Calibri"/>
                <a:cs typeface="Calibri"/>
              </a:rPr>
              <a:t>R</a:t>
            </a:r>
            <a:r>
              <a:rPr dirty="0" sz="2400" spc="-10">
                <a:latin typeface="Calibri"/>
                <a:cs typeface="Calibri"/>
              </a:rPr>
              <a:t>athour</a:t>
            </a:r>
            <a:endParaRPr sz="2400">
              <a:latin typeface="Calibri"/>
              <a:cs typeface="Calibri"/>
            </a:endParaRPr>
          </a:p>
          <a:p>
            <a:pPr algn="ctr" marL="1036955" marR="1031240">
              <a:lnSpc>
                <a:spcPct val="143800"/>
              </a:lnSpc>
              <a:spcBef>
                <a:spcPts val="35"/>
              </a:spcBef>
            </a:pPr>
            <a:r>
              <a:rPr dirty="0" sz="1900">
                <a:latin typeface="Calibri"/>
                <a:cs typeface="Calibri"/>
              </a:rPr>
              <a:t>Roll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Number: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25scs100300</a:t>
            </a:r>
            <a:r>
              <a:rPr dirty="0" sz="1900" spc="-10">
                <a:solidFill>
                  <a:srgbClr val="020303"/>
                </a:solidFill>
                <a:latin typeface="Calibri"/>
                <a:cs typeface="Calibri"/>
              </a:rPr>
              <a:t>1557 </a:t>
            </a:r>
            <a:r>
              <a:rPr dirty="0" sz="1900">
                <a:latin typeface="Calibri"/>
                <a:cs typeface="Calibri"/>
              </a:rPr>
              <a:t>B.Tech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CSE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|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3rd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Semester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50">
                <a:latin typeface="Calibri"/>
                <a:cs typeface="Calibri"/>
              </a:rPr>
              <a:t>| </a:t>
            </a:r>
            <a:r>
              <a:rPr dirty="0" sz="1900">
                <a:latin typeface="Calibri"/>
                <a:cs typeface="Calibri"/>
              </a:rPr>
              <a:t>Section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2CSE</a:t>
            </a:r>
            <a:r>
              <a:rPr dirty="0" sz="1900" spc="-10">
                <a:solidFill>
                  <a:srgbClr val="020303"/>
                </a:solidFill>
                <a:latin typeface="Calibri"/>
                <a:cs typeface="Calibri"/>
              </a:rPr>
              <a:t>16</a:t>
            </a:r>
            <a:endParaRPr sz="1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00"/>
              </a:spcBef>
            </a:pPr>
            <a:r>
              <a:rPr dirty="0" sz="1900" spc="-10">
                <a:latin typeface="Calibri"/>
                <a:cs typeface="Calibri"/>
              </a:rPr>
              <a:t>Organization: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Codec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Technologies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Pvt.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Ltd.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45"/>
              </a:spcBef>
            </a:pPr>
            <a:endParaRPr sz="1900">
              <a:latin typeface="Calibri"/>
              <a:cs typeface="Calibri"/>
            </a:endParaRPr>
          </a:p>
          <a:p>
            <a:pPr algn="ctr" marR="36830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Academic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Year: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2026-</a:t>
            </a:r>
            <a:r>
              <a:rPr dirty="0" sz="1800" spc="-25">
                <a:latin typeface="Calibri"/>
                <a:cs typeface="Calibri"/>
              </a:rPr>
              <a:t>27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dirty="0" spc="-45"/>
              <a:t> </a:t>
            </a:r>
            <a:r>
              <a:rPr dirty="0"/>
              <a:t>Internship</a:t>
            </a:r>
            <a:r>
              <a:rPr dirty="0" spc="-50"/>
              <a:t> </a:t>
            </a:r>
            <a:r>
              <a:rPr dirty="0" spc="-1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124203"/>
            <a:ext cx="4418965" cy="2184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1700"/>
              </a:lnSpc>
              <a:spcBef>
                <a:spcPts val="100"/>
              </a:spcBef>
            </a:pPr>
            <a:r>
              <a:rPr dirty="0" sz="2000" spc="-10">
                <a:latin typeface="Calibri"/>
                <a:cs typeface="Calibri"/>
              </a:rPr>
              <a:t>Organization: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Codec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Technologies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Pvt.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Ltd. </a:t>
            </a:r>
            <a:r>
              <a:rPr dirty="0" sz="2000" spc="-10">
                <a:latin typeface="Calibri"/>
                <a:cs typeface="Calibri"/>
              </a:rPr>
              <a:t>Designation: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Artificial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Intelligence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Intern </a:t>
            </a:r>
            <a:r>
              <a:rPr dirty="0" sz="2000">
                <a:latin typeface="Calibri"/>
                <a:cs typeface="Calibri"/>
              </a:rPr>
              <a:t>Duration: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20303"/>
                </a:solidFill>
                <a:latin typeface="Calibri"/>
                <a:cs typeface="Calibri"/>
              </a:rPr>
              <a:t>30</a:t>
            </a:r>
            <a:r>
              <a:rPr dirty="0" sz="2000">
                <a:latin typeface="Calibri"/>
                <a:cs typeface="Calibri"/>
              </a:rPr>
              <a:t>/06/2026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20303"/>
                </a:solidFill>
                <a:latin typeface="Calibri"/>
                <a:cs typeface="Calibri"/>
              </a:rPr>
              <a:t>30</a:t>
            </a:r>
            <a:r>
              <a:rPr dirty="0" sz="2000" spc="-10">
                <a:latin typeface="Calibri"/>
                <a:cs typeface="Calibri"/>
              </a:rPr>
              <a:t>/7/2026 </a:t>
            </a:r>
            <a:r>
              <a:rPr dirty="0" sz="2000">
                <a:latin typeface="Calibri"/>
                <a:cs typeface="Calibri"/>
              </a:rPr>
              <a:t>Location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&amp;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Mode: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India,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Hybrid </a:t>
            </a:r>
            <a:r>
              <a:rPr dirty="0" sz="2000">
                <a:latin typeface="Calibri"/>
                <a:cs typeface="Calibri"/>
              </a:rPr>
              <a:t>Reporting: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Assigned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Project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Head(s)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dirty="0" spc="-45"/>
              <a:t> </a:t>
            </a:r>
            <a:r>
              <a:rPr dirty="0"/>
              <a:t>Organization</a:t>
            </a:r>
            <a:r>
              <a:rPr dirty="0" spc="-40"/>
              <a:t> </a:t>
            </a:r>
            <a:r>
              <a:rPr dirty="0" spc="-10"/>
              <a:t>Profile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251203"/>
            <a:ext cx="10236200" cy="2108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8895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libri"/>
                <a:cs typeface="Calibri"/>
              </a:rPr>
              <a:t>Codec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Technologies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described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internship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offer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letter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global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platform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dedicated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empowering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learners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connecting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diverse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talent.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offer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letter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organization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delivers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dedicated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business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consultancy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services </a:t>
            </a:r>
            <a:r>
              <a:rPr dirty="0" sz="2000">
                <a:latin typeface="Calibri"/>
                <a:cs typeface="Calibri"/>
              </a:rPr>
              <a:t>across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27+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countries.</a:t>
            </a:r>
            <a:endParaRPr sz="2000">
              <a:latin typeface="Calibri"/>
              <a:cs typeface="Calibri"/>
            </a:endParaRPr>
          </a:p>
          <a:p>
            <a:pPr marL="12700" marR="301625">
              <a:lnSpc>
                <a:spcPct val="100000"/>
              </a:lnSpc>
              <a:spcBef>
                <a:spcPts val="1000"/>
              </a:spcBef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internship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opportunity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industry-</a:t>
            </a:r>
            <a:r>
              <a:rPr dirty="0" sz="2000">
                <a:latin typeface="Calibri"/>
                <a:cs typeface="Calibri"/>
              </a:rPr>
              <a:t>oriented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learning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through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assigned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projects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training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tasks.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dirty="0" spc="-35"/>
              <a:t> </a:t>
            </a:r>
            <a:r>
              <a:rPr dirty="0"/>
              <a:t>Internship</a:t>
            </a:r>
            <a:r>
              <a:rPr dirty="0" spc="-30"/>
              <a:t> </a:t>
            </a:r>
            <a:r>
              <a:rPr dirty="0" spc="-10"/>
              <a:t>Objectives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2162175">
              <a:lnSpc>
                <a:spcPct val="141700"/>
              </a:lnSpc>
              <a:spcBef>
                <a:spcPts val="100"/>
              </a:spcBef>
            </a:pPr>
            <a:r>
              <a:rPr dirty="0"/>
              <a:t>Gain</a:t>
            </a:r>
            <a:r>
              <a:rPr dirty="0" spc="-40"/>
              <a:t> </a:t>
            </a:r>
            <a:r>
              <a:rPr dirty="0" spc="-20"/>
              <a:t>industry-</a:t>
            </a:r>
            <a:r>
              <a:rPr dirty="0"/>
              <a:t>level</a:t>
            </a:r>
            <a:r>
              <a:rPr dirty="0" spc="-35"/>
              <a:t> </a:t>
            </a:r>
            <a:r>
              <a:rPr dirty="0"/>
              <a:t>knowledge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valuable</a:t>
            </a:r>
            <a:r>
              <a:rPr dirty="0" spc="-35"/>
              <a:t> </a:t>
            </a:r>
            <a:r>
              <a:rPr dirty="0" spc="-10"/>
              <a:t>skills. </a:t>
            </a:r>
            <a:r>
              <a:rPr dirty="0"/>
              <a:t>Complete</a:t>
            </a:r>
            <a:r>
              <a:rPr dirty="0" spc="-70"/>
              <a:t> </a:t>
            </a:r>
            <a:r>
              <a:rPr dirty="0"/>
              <a:t>assigned</a:t>
            </a:r>
            <a:r>
              <a:rPr dirty="0" spc="-65"/>
              <a:t> </a:t>
            </a:r>
            <a:r>
              <a:rPr dirty="0"/>
              <a:t>projects</a:t>
            </a:r>
            <a:r>
              <a:rPr dirty="0" spc="-65"/>
              <a:t> </a:t>
            </a:r>
            <a:r>
              <a:rPr dirty="0"/>
              <a:t>and</a:t>
            </a:r>
            <a:r>
              <a:rPr dirty="0" spc="-65"/>
              <a:t> </a:t>
            </a:r>
            <a:r>
              <a:rPr dirty="0"/>
              <a:t>training</a:t>
            </a:r>
            <a:r>
              <a:rPr dirty="0" spc="-70"/>
              <a:t> </a:t>
            </a:r>
            <a:r>
              <a:rPr dirty="0" spc="-10"/>
              <a:t>tasks.</a:t>
            </a:r>
          </a:p>
          <a:p>
            <a:pPr marL="12700" marR="5080">
              <a:lnSpc>
                <a:spcPct val="141700"/>
              </a:lnSpc>
            </a:pPr>
            <a:r>
              <a:rPr dirty="0"/>
              <a:t>Apply</a:t>
            </a:r>
            <a:r>
              <a:rPr dirty="0" spc="-55"/>
              <a:t> </a:t>
            </a:r>
            <a:r>
              <a:rPr dirty="0"/>
              <a:t>Artificial</a:t>
            </a:r>
            <a:r>
              <a:rPr dirty="0" spc="-50"/>
              <a:t> </a:t>
            </a:r>
            <a:r>
              <a:rPr dirty="0" spc="-10"/>
              <a:t>Intelligence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/>
              <a:t>Machine</a:t>
            </a:r>
            <a:r>
              <a:rPr dirty="0" spc="-55"/>
              <a:t> </a:t>
            </a:r>
            <a:r>
              <a:rPr dirty="0"/>
              <a:t>Learning</a:t>
            </a:r>
            <a:r>
              <a:rPr dirty="0" spc="-50"/>
              <a:t> </a:t>
            </a:r>
            <a:r>
              <a:rPr dirty="0"/>
              <a:t>concepts</a:t>
            </a:r>
            <a:r>
              <a:rPr dirty="0" spc="-50"/>
              <a:t> </a:t>
            </a:r>
            <a:r>
              <a:rPr dirty="0" spc="-10"/>
              <a:t>practically. </a:t>
            </a:r>
            <a:r>
              <a:rPr dirty="0"/>
              <a:t>Develop</a:t>
            </a:r>
            <a:r>
              <a:rPr dirty="0" spc="-55"/>
              <a:t> </a:t>
            </a:r>
            <a:r>
              <a:rPr dirty="0"/>
              <a:t>experience</a:t>
            </a:r>
            <a:r>
              <a:rPr dirty="0" spc="-50"/>
              <a:t> </a:t>
            </a:r>
            <a:r>
              <a:rPr dirty="0"/>
              <a:t>in</a:t>
            </a:r>
            <a:r>
              <a:rPr dirty="0" spc="-55"/>
              <a:t> </a:t>
            </a:r>
            <a:r>
              <a:rPr dirty="0"/>
              <a:t>model</a:t>
            </a:r>
            <a:r>
              <a:rPr dirty="0" spc="-50"/>
              <a:t> </a:t>
            </a:r>
            <a:r>
              <a:rPr dirty="0"/>
              <a:t>training,</a:t>
            </a:r>
            <a:r>
              <a:rPr dirty="0" spc="-55"/>
              <a:t> </a:t>
            </a:r>
            <a:r>
              <a:rPr dirty="0"/>
              <a:t>testing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 spc="-10"/>
              <a:t>evaluation.</a:t>
            </a: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/>
              <a:t>Improve</a:t>
            </a:r>
            <a:r>
              <a:rPr dirty="0" spc="-50"/>
              <a:t> </a:t>
            </a:r>
            <a:r>
              <a:rPr dirty="0" spc="-20"/>
              <a:t>problem-</a:t>
            </a:r>
            <a:r>
              <a:rPr dirty="0"/>
              <a:t>solving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/>
              <a:t>project</a:t>
            </a:r>
            <a:r>
              <a:rPr dirty="0" spc="-50"/>
              <a:t> </a:t>
            </a:r>
            <a:r>
              <a:rPr dirty="0"/>
              <a:t>documentation</a:t>
            </a:r>
            <a:r>
              <a:rPr dirty="0" spc="-45"/>
              <a:t> </a:t>
            </a:r>
            <a:r>
              <a:rPr dirty="0" spc="-10"/>
              <a:t>skills.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dirty="0" spc="-40"/>
              <a:t> </a:t>
            </a:r>
            <a:r>
              <a:rPr dirty="0"/>
              <a:t>Project</a:t>
            </a:r>
            <a:r>
              <a:rPr dirty="0" spc="-35"/>
              <a:t> </a:t>
            </a:r>
            <a:r>
              <a:rPr dirty="0"/>
              <a:t>1</a:t>
            </a:r>
            <a:r>
              <a:rPr dirty="0" spc="-35"/>
              <a:t> </a:t>
            </a:r>
            <a:r>
              <a:rPr dirty="0"/>
              <a:t>–</a:t>
            </a:r>
            <a:r>
              <a:rPr dirty="0" spc="-35"/>
              <a:t> </a:t>
            </a:r>
            <a:r>
              <a:rPr dirty="0"/>
              <a:t>Handwritten</a:t>
            </a:r>
            <a:r>
              <a:rPr dirty="0" spc="-35"/>
              <a:t> </a:t>
            </a:r>
            <a:r>
              <a:rPr dirty="0"/>
              <a:t>Digit</a:t>
            </a:r>
            <a:r>
              <a:rPr dirty="0" spc="-35"/>
              <a:t> </a:t>
            </a:r>
            <a:r>
              <a:rPr dirty="0" spc="-10"/>
              <a:t>Recognizer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255270">
              <a:lnSpc>
                <a:spcPct val="141700"/>
              </a:lnSpc>
              <a:spcBef>
                <a:spcPts val="100"/>
              </a:spcBef>
            </a:pPr>
            <a:r>
              <a:rPr dirty="0" spc="-10"/>
              <a:t>CNN-</a:t>
            </a:r>
            <a:r>
              <a:rPr dirty="0"/>
              <a:t>based</a:t>
            </a:r>
            <a:r>
              <a:rPr dirty="0" spc="-40"/>
              <a:t> </a:t>
            </a:r>
            <a:r>
              <a:rPr dirty="0"/>
              <a:t>deep</a:t>
            </a:r>
            <a:r>
              <a:rPr dirty="0" spc="-40"/>
              <a:t> </a:t>
            </a:r>
            <a:r>
              <a:rPr dirty="0"/>
              <a:t>learning</a:t>
            </a:r>
            <a:r>
              <a:rPr dirty="0" spc="-35"/>
              <a:t> </a:t>
            </a:r>
            <a:r>
              <a:rPr dirty="0"/>
              <a:t>project</a:t>
            </a:r>
            <a:r>
              <a:rPr dirty="0" spc="-40"/>
              <a:t> </a:t>
            </a:r>
            <a:r>
              <a:rPr dirty="0"/>
              <a:t>for</a:t>
            </a:r>
            <a:r>
              <a:rPr dirty="0" spc="-35"/>
              <a:t> </a:t>
            </a:r>
            <a:r>
              <a:rPr dirty="0"/>
              <a:t>handwritten</a:t>
            </a:r>
            <a:r>
              <a:rPr dirty="0" spc="-40"/>
              <a:t> </a:t>
            </a:r>
            <a:r>
              <a:rPr dirty="0"/>
              <a:t>digit</a:t>
            </a:r>
            <a:r>
              <a:rPr dirty="0" spc="-40"/>
              <a:t> </a:t>
            </a:r>
            <a:r>
              <a:rPr dirty="0" spc="-10"/>
              <a:t>classification. </a:t>
            </a:r>
            <a:r>
              <a:rPr dirty="0"/>
              <a:t>Dataset:</a:t>
            </a:r>
            <a:r>
              <a:rPr dirty="0" spc="-65"/>
              <a:t> </a:t>
            </a:r>
            <a:r>
              <a:rPr dirty="0"/>
              <a:t>MNIST;</a:t>
            </a:r>
            <a:r>
              <a:rPr dirty="0" spc="-65"/>
              <a:t> </a:t>
            </a:r>
            <a:r>
              <a:rPr dirty="0"/>
              <a:t>classes:</a:t>
            </a:r>
            <a:r>
              <a:rPr dirty="0" spc="-65"/>
              <a:t> </a:t>
            </a:r>
            <a:r>
              <a:rPr dirty="0"/>
              <a:t>digits</a:t>
            </a:r>
            <a:r>
              <a:rPr dirty="0" spc="-65"/>
              <a:t> </a:t>
            </a:r>
            <a:r>
              <a:rPr dirty="0" spc="-10"/>
              <a:t>0–</a:t>
            </a:r>
            <a:r>
              <a:rPr dirty="0" spc="-25"/>
              <a:t>9.</a:t>
            </a: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/>
              <a:t>Input:</a:t>
            </a:r>
            <a:r>
              <a:rPr dirty="0" spc="-35"/>
              <a:t> </a:t>
            </a:r>
            <a:r>
              <a:rPr dirty="0"/>
              <a:t>grayscale</a:t>
            </a:r>
            <a:r>
              <a:rPr dirty="0" spc="-35"/>
              <a:t> </a:t>
            </a:r>
            <a:r>
              <a:rPr dirty="0" spc="-10"/>
              <a:t>handwritten-</a:t>
            </a:r>
            <a:r>
              <a:rPr dirty="0"/>
              <a:t>digit</a:t>
            </a:r>
            <a:r>
              <a:rPr dirty="0" spc="-35"/>
              <a:t> </a:t>
            </a:r>
            <a:r>
              <a:rPr dirty="0" spc="-10"/>
              <a:t>images.</a:t>
            </a:r>
          </a:p>
          <a:p>
            <a:pPr marL="12700" marR="5080">
              <a:lnSpc>
                <a:spcPct val="141700"/>
              </a:lnSpc>
            </a:pPr>
            <a:r>
              <a:rPr dirty="0"/>
              <a:t>Technologies:</a:t>
            </a:r>
            <a:r>
              <a:rPr dirty="0" spc="-45"/>
              <a:t> </a:t>
            </a:r>
            <a:r>
              <a:rPr dirty="0"/>
              <a:t>Python,</a:t>
            </a:r>
            <a:r>
              <a:rPr dirty="0" spc="-45"/>
              <a:t> </a:t>
            </a:r>
            <a:r>
              <a:rPr dirty="0" spc="-10"/>
              <a:t>TensorFlow,</a:t>
            </a:r>
            <a:r>
              <a:rPr dirty="0" spc="-45"/>
              <a:t> </a:t>
            </a:r>
            <a:r>
              <a:rPr dirty="0"/>
              <a:t>Keras,</a:t>
            </a:r>
            <a:r>
              <a:rPr dirty="0" spc="-40"/>
              <a:t> </a:t>
            </a:r>
            <a:r>
              <a:rPr dirty="0"/>
              <a:t>NumPy,</a:t>
            </a:r>
            <a:r>
              <a:rPr dirty="0" spc="-45"/>
              <a:t> </a:t>
            </a:r>
            <a:r>
              <a:rPr dirty="0" spc="-10"/>
              <a:t>Matplotlib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 spc="-20"/>
              <a:t>CNN. </a:t>
            </a:r>
            <a:r>
              <a:rPr dirty="0"/>
              <a:t>Reported</a:t>
            </a:r>
            <a:r>
              <a:rPr dirty="0" spc="-40"/>
              <a:t> </a:t>
            </a:r>
            <a:r>
              <a:rPr dirty="0"/>
              <a:t>test</a:t>
            </a:r>
            <a:r>
              <a:rPr dirty="0" spc="-35"/>
              <a:t> </a:t>
            </a:r>
            <a:r>
              <a:rPr dirty="0"/>
              <a:t>accuracy:</a:t>
            </a:r>
            <a:r>
              <a:rPr dirty="0" spc="-40"/>
              <a:t> </a:t>
            </a:r>
            <a:r>
              <a:rPr dirty="0"/>
              <a:t>99.19%</a:t>
            </a:r>
            <a:r>
              <a:rPr dirty="0" spc="-35"/>
              <a:t> </a:t>
            </a:r>
            <a:r>
              <a:rPr dirty="0"/>
              <a:t>after</a:t>
            </a:r>
            <a:r>
              <a:rPr dirty="0" spc="-35"/>
              <a:t> </a:t>
            </a:r>
            <a:r>
              <a:rPr dirty="0"/>
              <a:t>5</a:t>
            </a:r>
            <a:r>
              <a:rPr dirty="0" spc="-40"/>
              <a:t> </a:t>
            </a:r>
            <a:r>
              <a:rPr dirty="0" spc="-10"/>
              <a:t>epochs.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5.</a:t>
            </a:r>
            <a:r>
              <a:rPr dirty="0" spc="-40"/>
              <a:t> </a:t>
            </a:r>
            <a:r>
              <a:rPr dirty="0"/>
              <a:t>Handwritten</a:t>
            </a:r>
            <a:r>
              <a:rPr dirty="0" spc="-40"/>
              <a:t> </a:t>
            </a:r>
            <a:r>
              <a:rPr dirty="0"/>
              <a:t>Digit</a:t>
            </a:r>
            <a:r>
              <a:rPr dirty="0" spc="-35"/>
              <a:t> </a:t>
            </a:r>
            <a:r>
              <a:rPr dirty="0"/>
              <a:t>Recognizer</a:t>
            </a:r>
            <a:r>
              <a:rPr dirty="0" spc="-40"/>
              <a:t> </a:t>
            </a:r>
            <a:r>
              <a:rPr dirty="0"/>
              <a:t>–</a:t>
            </a:r>
            <a:r>
              <a:rPr dirty="0" spc="-35"/>
              <a:t> </a:t>
            </a:r>
            <a:r>
              <a:rPr dirty="0" spc="-1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124203"/>
            <a:ext cx="6598920" cy="218440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2000">
                <a:latin typeface="Calibri"/>
                <a:cs typeface="Calibri"/>
              </a:rPr>
              <a:t>Input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Image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→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Convolution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(32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filters)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→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Max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Pooling</a:t>
            </a:r>
            <a:endParaRPr sz="2000">
              <a:latin typeface="Calibri"/>
              <a:cs typeface="Calibri"/>
            </a:endParaRPr>
          </a:p>
          <a:p>
            <a:pPr marL="299720" indent="-287020">
              <a:lnSpc>
                <a:spcPct val="100000"/>
              </a:lnSpc>
              <a:spcBef>
                <a:spcPts val="1000"/>
              </a:spcBef>
              <a:buChar char="*"/>
              <a:tabLst>
                <a:tab pos="299720" algn="l"/>
              </a:tabLst>
            </a:pPr>
            <a:r>
              <a:rPr dirty="0" sz="2000">
                <a:latin typeface="Calibri"/>
                <a:cs typeface="Calibri"/>
              </a:rPr>
              <a:t>Convolution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(64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filters)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→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Max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Pooling</a:t>
            </a:r>
            <a:endParaRPr sz="2000">
              <a:latin typeface="Calibri"/>
              <a:cs typeface="Calibri"/>
            </a:endParaRPr>
          </a:p>
          <a:p>
            <a:pPr marL="299720" indent="-287020">
              <a:lnSpc>
                <a:spcPct val="100000"/>
              </a:lnSpc>
              <a:spcBef>
                <a:spcPts val="1000"/>
              </a:spcBef>
              <a:buChar char="*"/>
              <a:tabLst>
                <a:tab pos="299720" algn="l"/>
              </a:tabLst>
            </a:pPr>
            <a:r>
              <a:rPr dirty="0" sz="2000">
                <a:latin typeface="Calibri"/>
                <a:cs typeface="Calibri"/>
              </a:rPr>
              <a:t>Flatten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→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Dense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(128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neurons)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→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Dropout</a:t>
            </a:r>
            <a:endParaRPr sz="2000">
              <a:latin typeface="Calibri"/>
              <a:cs typeface="Calibri"/>
            </a:endParaRPr>
          </a:p>
          <a:p>
            <a:pPr marL="299720" indent="-287020">
              <a:lnSpc>
                <a:spcPct val="100000"/>
              </a:lnSpc>
              <a:spcBef>
                <a:spcPts val="1000"/>
              </a:spcBef>
              <a:buChar char="*"/>
              <a:tabLst>
                <a:tab pos="299720" algn="l"/>
              </a:tabLst>
            </a:pPr>
            <a:r>
              <a:rPr dirty="0" sz="2000">
                <a:latin typeface="Calibri"/>
                <a:cs typeface="Calibri"/>
              </a:rPr>
              <a:t>Output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Layer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(10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classes)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repository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includes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predictions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confusion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matrix.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dirty="0" spc="-50"/>
              <a:t> </a:t>
            </a:r>
            <a:r>
              <a:rPr dirty="0"/>
              <a:t>Project</a:t>
            </a:r>
            <a:r>
              <a:rPr dirty="0" spc="-45"/>
              <a:t> </a:t>
            </a:r>
            <a:r>
              <a:rPr dirty="0"/>
              <a:t>2</a:t>
            </a:r>
            <a:r>
              <a:rPr dirty="0" spc="-45"/>
              <a:t> </a:t>
            </a:r>
            <a:r>
              <a:rPr dirty="0"/>
              <a:t>–</a:t>
            </a:r>
            <a:r>
              <a:rPr dirty="0" spc="-45"/>
              <a:t> </a:t>
            </a:r>
            <a:r>
              <a:rPr dirty="0"/>
              <a:t>Twitter</a:t>
            </a:r>
            <a:r>
              <a:rPr dirty="0" spc="-45"/>
              <a:t> </a:t>
            </a:r>
            <a:r>
              <a:rPr dirty="0"/>
              <a:t>Sentiment</a:t>
            </a:r>
            <a:r>
              <a:rPr dirty="0" spc="-45"/>
              <a:t> </a:t>
            </a:r>
            <a:r>
              <a:rPr dirty="0" spc="-10"/>
              <a:t>Analysis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1819910">
              <a:lnSpc>
                <a:spcPct val="1417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dirty="0" spc="-50"/>
              <a:t> </a:t>
            </a:r>
            <a:r>
              <a:rPr dirty="0"/>
              <a:t>Learning</a:t>
            </a:r>
            <a:r>
              <a:rPr dirty="0" spc="-50"/>
              <a:t> </a:t>
            </a:r>
            <a:r>
              <a:rPr dirty="0"/>
              <a:t>/</a:t>
            </a:r>
            <a:r>
              <a:rPr dirty="0" spc="-45"/>
              <a:t> </a:t>
            </a:r>
            <a:r>
              <a:rPr dirty="0"/>
              <a:t>NLP</a:t>
            </a:r>
            <a:r>
              <a:rPr dirty="0" spc="-50"/>
              <a:t> </a:t>
            </a:r>
            <a:r>
              <a:rPr dirty="0"/>
              <a:t>project</a:t>
            </a:r>
            <a:r>
              <a:rPr dirty="0" spc="-45"/>
              <a:t> </a:t>
            </a:r>
            <a:r>
              <a:rPr dirty="0"/>
              <a:t>for</a:t>
            </a:r>
            <a:r>
              <a:rPr dirty="0" spc="-50"/>
              <a:t> </a:t>
            </a:r>
            <a:r>
              <a:rPr dirty="0"/>
              <a:t>classifying</a:t>
            </a:r>
            <a:r>
              <a:rPr dirty="0" spc="-50"/>
              <a:t> </a:t>
            </a:r>
            <a:r>
              <a:rPr dirty="0"/>
              <a:t>Twitter</a:t>
            </a:r>
            <a:r>
              <a:rPr dirty="0" spc="-45"/>
              <a:t> </a:t>
            </a:r>
            <a:r>
              <a:rPr dirty="0" spc="-10"/>
              <a:t>posts. </a:t>
            </a:r>
            <a:r>
              <a:rPr dirty="0"/>
              <a:t>Sentiment</a:t>
            </a:r>
            <a:r>
              <a:rPr dirty="0" spc="-75"/>
              <a:t> </a:t>
            </a:r>
            <a:r>
              <a:rPr dirty="0"/>
              <a:t>classes:</a:t>
            </a:r>
            <a:r>
              <a:rPr dirty="0" spc="-70"/>
              <a:t> </a:t>
            </a:r>
            <a:r>
              <a:rPr dirty="0"/>
              <a:t>Negative,</a:t>
            </a:r>
            <a:r>
              <a:rPr dirty="0" spc="-70"/>
              <a:t> </a:t>
            </a:r>
            <a:r>
              <a:rPr dirty="0"/>
              <a:t>Neutral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75"/>
              <a:t> </a:t>
            </a:r>
            <a:r>
              <a:rPr dirty="0" spc="-10"/>
              <a:t>Positive.</a:t>
            </a:r>
          </a:p>
          <a:p>
            <a:pPr marL="12700" marR="4949190">
              <a:lnSpc>
                <a:spcPct val="141700"/>
              </a:lnSpc>
            </a:pPr>
            <a:r>
              <a:rPr dirty="0"/>
              <a:t>Feature</a:t>
            </a:r>
            <a:r>
              <a:rPr dirty="0" spc="-35"/>
              <a:t> </a:t>
            </a:r>
            <a:r>
              <a:rPr dirty="0" spc="-10"/>
              <a:t>extraction:</a:t>
            </a:r>
            <a:r>
              <a:rPr dirty="0" spc="-30"/>
              <a:t> </a:t>
            </a:r>
            <a:r>
              <a:rPr dirty="0" spc="-20"/>
              <a:t>TF-IDF. </a:t>
            </a:r>
            <a:r>
              <a:rPr dirty="0" spc="-10"/>
              <a:t>Classifier:</a:t>
            </a:r>
            <a:r>
              <a:rPr dirty="0" spc="-35"/>
              <a:t> </a:t>
            </a:r>
            <a:r>
              <a:rPr dirty="0"/>
              <a:t>Logistic</a:t>
            </a:r>
            <a:r>
              <a:rPr dirty="0" spc="-35"/>
              <a:t> </a:t>
            </a:r>
            <a:r>
              <a:rPr dirty="0" spc="-10"/>
              <a:t>Regression.</a:t>
            </a: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/>
              <a:t>Technologies:</a:t>
            </a:r>
            <a:r>
              <a:rPr dirty="0" spc="-50"/>
              <a:t> </a:t>
            </a:r>
            <a:r>
              <a:rPr dirty="0"/>
              <a:t>Python,</a:t>
            </a:r>
            <a:r>
              <a:rPr dirty="0" spc="-50"/>
              <a:t> </a:t>
            </a:r>
            <a:r>
              <a:rPr dirty="0"/>
              <a:t>Pandas,</a:t>
            </a:r>
            <a:r>
              <a:rPr dirty="0" spc="-50"/>
              <a:t> </a:t>
            </a:r>
            <a:r>
              <a:rPr dirty="0" spc="-10"/>
              <a:t>Scikit-</a:t>
            </a:r>
            <a:r>
              <a:rPr dirty="0"/>
              <a:t>learn,</a:t>
            </a:r>
            <a:r>
              <a:rPr dirty="0" spc="-50"/>
              <a:t> </a:t>
            </a:r>
            <a:r>
              <a:rPr dirty="0" spc="-10"/>
              <a:t>Matplotlib,</a:t>
            </a:r>
            <a:r>
              <a:rPr dirty="0" spc="-50"/>
              <a:t> </a:t>
            </a:r>
            <a:r>
              <a:rPr dirty="0"/>
              <a:t>NLP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/>
              <a:t>Google</a:t>
            </a:r>
            <a:r>
              <a:rPr dirty="0" spc="-50"/>
              <a:t> </a:t>
            </a:r>
            <a:r>
              <a:rPr dirty="0" spc="-10"/>
              <a:t>Colab.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7.</a:t>
            </a:r>
            <a:r>
              <a:rPr dirty="0" spc="-45"/>
              <a:t> </a:t>
            </a:r>
            <a:r>
              <a:rPr dirty="0"/>
              <a:t>Twitter</a:t>
            </a:r>
            <a:r>
              <a:rPr dirty="0" spc="-45"/>
              <a:t> </a:t>
            </a:r>
            <a:r>
              <a:rPr dirty="0"/>
              <a:t>Sentiment</a:t>
            </a:r>
            <a:r>
              <a:rPr dirty="0" spc="-45"/>
              <a:t> </a:t>
            </a:r>
            <a:r>
              <a:rPr dirty="0"/>
              <a:t>Analysis</a:t>
            </a:r>
            <a:r>
              <a:rPr dirty="0" spc="-45"/>
              <a:t> </a:t>
            </a:r>
            <a:r>
              <a:rPr dirty="0"/>
              <a:t>–</a:t>
            </a:r>
            <a:r>
              <a:rPr dirty="0" spc="-45"/>
              <a:t> </a:t>
            </a:r>
            <a:r>
              <a:rPr dirty="0" spc="-1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124203"/>
            <a:ext cx="6167120" cy="218440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2000">
                <a:latin typeface="Calibri"/>
                <a:cs typeface="Calibri"/>
              </a:rPr>
              <a:t>Twitter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Dataset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→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Cleaning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→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Remove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Missing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Values</a:t>
            </a:r>
            <a:endParaRPr sz="2000">
              <a:latin typeface="Calibri"/>
              <a:cs typeface="Calibri"/>
            </a:endParaRPr>
          </a:p>
          <a:p>
            <a:pPr marL="299720" indent="-287020">
              <a:lnSpc>
                <a:spcPct val="100000"/>
              </a:lnSpc>
              <a:spcBef>
                <a:spcPts val="1000"/>
              </a:spcBef>
              <a:buChar char="*"/>
              <a:tabLst>
                <a:tab pos="299720" algn="l"/>
              </a:tabLst>
            </a:pPr>
            <a:r>
              <a:rPr dirty="0" sz="2000">
                <a:latin typeface="Calibri"/>
                <a:cs typeface="Calibri"/>
              </a:rPr>
              <a:t>Text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Preprocessing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→</a:t>
            </a:r>
            <a:r>
              <a:rPr dirty="0" sz="2000" spc="-20">
                <a:latin typeface="Calibri"/>
                <a:cs typeface="Calibri"/>
              </a:rPr>
              <a:t> TF-</a:t>
            </a:r>
            <a:r>
              <a:rPr dirty="0" sz="2000">
                <a:latin typeface="Calibri"/>
                <a:cs typeface="Calibri"/>
              </a:rPr>
              <a:t>IDF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Vectorization</a:t>
            </a:r>
            <a:endParaRPr sz="2000">
              <a:latin typeface="Calibri"/>
              <a:cs typeface="Calibri"/>
            </a:endParaRPr>
          </a:p>
          <a:p>
            <a:pPr marL="299720" indent="-287020">
              <a:lnSpc>
                <a:spcPct val="100000"/>
              </a:lnSpc>
              <a:spcBef>
                <a:spcPts val="1000"/>
              </a:spcBef>
              <a:buChar char="*"/>
              <a:tabLst>
                <a:tab pos="299720" algn="l"/>
              </a:tabLst>
            </a:pPr>
            <a:r>
              <a:rPr dirty="0" sz="2000" spc="-10">
                <a:latin typeface="Calibri"/>
                <a:cs typeface="Calibri"/>
              </a:rPr>
              <a:t>Train/Test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Split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→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Logistic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Regression</a:t>
            </a:r>
            <a:endParaRPr sz="2000">
              <a:latin typeface="Calibri"/>
              <a:cs typeface="Calibri"/>
            </a:endParaRPr>
          </a:p>
          <a:p>
            <a:pPr marL="12700" marR="378460" indent="287020">
              <a:lnSpc>
                <a:spcPct val="141700"/>
              </a:lnSpc>
              <a:buChar char="*"/>
              <a:tabLst>
                <a:tab pos="299720" algn="l"/>
              </a:tabLst>
            </a:pPr>
            <a:r>
              <a:rPr dirty="0" sz="2000" spc="-10">
                <a:latin typeface="Calibri"/>
                <a:cs typeface="Calibri"/>
              </a:rPr>
              <a:t>Predictions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→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Evaluation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→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Sentiment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Classification </a:t>
            </a:r>
            <a:r>
              <a:rPr dirty="0" sz="2000">
                <a:latin typeface="Calibri"/>
                <a:cs typeface="Calibri"/>
              </a:rPr>
              <a:t>Reported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test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accuracy: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85.46%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32,593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test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samples.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8.</a:t>
            </a:r>
            <a:r>
              <a:rPr dirty="0" spc="-25"/>
              <a:t> </a:t>
            </a:r>
            <a:r>
              <a:rPr dirty="0" spc="-1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124203"/>
            <a:ext cx="7268845" cy="175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859280">
              <a:lnSpc>
                <a:spcPct val="141700"/>
              </a:lnSpc>
              <a:spcBef>
                <a:spcPts val="100"/>
              </a:spcBef>
            </a:pPr>
            <a:r>
              <a:rPr dirty="0" sz="2000" spc="-10">
                <a:latin typeface="Calibri"/>
                <a:cs typeface="Calibri"/>
              </a:rPr>
              <a:t>Handwritten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Digit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Recognizer: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99.19%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test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accuracy. </a:t>
            </a:r>
            <a:r>
              <a:rPr dirty="0" sz="2000">
                <a:latin typeface="Calibri"/>
                <a:cs typeface="Calibri"/>
              </a:rPr>
              <a:t>Twitter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Sentiment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Analysis: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85.46%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test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accuracy.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41700"/>
              </a:lnSpc>
            </a:pPr>
            <a:r>
              <a:rPr dirty="0" sz="2000">
                <a:latin typeface="Calibri"/>
                <a:cs typeface="Calibri"/>
              </a:rPr>
              <a:t>Twitter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sentiment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F1-</a:t>
            </a:r>
            <a:r>
              <a:rPr dirty="0" sz="2000">
                <a:latin typeface="Calibri"/>
                <a:cs typeface="Calibri"/>
              </a:rPr>
              <a:t>score: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Negative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0.79,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Neutral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0.87,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Positive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0.87. </a:t>
            </a:r>
            <a:r>
              <a:rPr dirty="0" sz="2000">
                <a:latin typeface="Calibri"/>
                <a:cs typeface="Calibri"/>
              </a:rPr>
              <a:t>Both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projects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include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evaluation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outputs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confusion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matrices.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9.</a:t>
            </a:r>
            <a:r>
              <a:rPr dirty="0" spc="-30"/>
              <a:t> </a:t>
            </a:r>
            <a:r>
              <a:rPr dirty="0"/>
              <a:t>Skills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Learning</a:t>
            </a:r>
            <a:r>
              <a:rPr dirty="0" spc="-30"/>
              <a:t> </a:t>
            </a:r>
            <a:r>
              <a:rPr dirty="0" spc="-10"/>
              <a:t>Outcomes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124203"/>
            <a:ext cx="8173084" cy="261620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100"/>
              </a:spcBef>
            </a:pPr>
            <a:r>
              <a:rPr dirty="0" sz="2000">
                <a:latin typeface="Calibri"/>
                <a:cs typeface="Calibri"/>
              </a:rPr>
              <a:t>Python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programming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handling.</a:t>
            </a:r>
            <a:endParaRPr sz="2000">
              <a:latin typeface="Calibri"/>
              <a:cs typeface="Calibri"/>
            </a:endParaRPr>
          </a:p>
          <a:p>
            <a:pPr algn="just" marL="12700" marR="2708910">
              <a:lnSpc>
                <a:spcPct val="141700"/>
              </a:lnSpc>
            </a:pPr>
            <a:r>
              <a:rPr dirty="0" sz="2000">
                <a:latin typeface="Calibri"/>
                <a:cs typeface="Calibri"/>
              </a:rPr>
              <a:t>Deep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Learning,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CNNs,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TensorFlow/Keras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MNIST. </a:t>
            </a:r>
            <a:r>
              <a:rPr dirty="0" sz="2000">
                <a:latin typeface="Calibri"/>
                <a:cs typeface="Calibri"/>
              </a:rPr>
              <a:t>Natural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Language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Processing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text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preprocessing. </a:t>
            </a:r>
            <a:r>
              <a:rPr dirty="0" sz="2000" spc="-20">
                <a:latin typeface="Calibri"/>
                <a:cs typeface="Calibri"/>
              </a:rPr>
              <a:t>TF-</a:t>
            </a:r>
            <a:r>
              <a:rPr dirty="0" sz="2000">
                <a:latin typeface="Calibri"/>
                <a:cs typeface="Calibri"/>
              </a:rPr>
              <a:t>IDF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feature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extraction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Logistic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Regression.</a:t>
            </a:r>
            <a:endParaRPr sz="2000">
              <a:latin typeface="Calibri"/>
              <a:cs typeface="Calibri"/>
            </a:endParaRPr>
          </a:p>
          <a:p>
            <a:pPr algn="just" marL="12700" marR="5080">
              <a:lnSpc>
                <a:spcPct val="141700"/>
              </a:lnSpc>
            </a:pP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evaluation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accuracy,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classification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reports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confusion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matrices. </a:t>
            </a:r>
            <a:r>
              <a:rPr dirty="0" sz="2000">
                <a:latin typeface="Calibri"/>
                <a:cs typeface="Calibri"/>
              </a:rPr>
              <a:t>Practical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AI/ML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project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development.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10.</a:t>
            </a:r>
            <a:r>
              <a:rPr dirty="0" spc="-45"/>
              <a:t> </a:t>
            </a:r>
            <a:r>
              <a:rPr dirty="0"/>
              <a:t>Future</a:t>
            </a:r>
            <a:r>
              <a:rPr dirty="0" spc="-40"/>
              <a:t> </a:t>
            </a:r>
            <a:r>
              <a:rPr dirty="0" spc="-10"/>
              <a:t>Improvements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124203"/>
            <a:ext cx="5190490" cy="2616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22300">
              <a:lnSpc>
                <a:spcPct val="141700"/>
              </a:lnSpc>
              <a:spcBef>
                <a:spcPts val="100"/>
              </a:spcBef>
            </a:pPr>
            <a:r>
              <a:rPr dirty="0" sz="2000">
                <a:latin typeface="Calibri"/>
                <a:cs typeface="Calibri"/>
              </a:rPr>
              <a:t>Explore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advanced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NLP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BERT. </a:t>
            </a:r>
            <a:r>
              <a:rPr dirty="0" sz="2000">
                <a:latin typeface="Calibri"/>
                <a:cs typeface="Calibri"/>
              </a:rPr>
              <a:t>Build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Streamlit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web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interface.</a:t>
            </a:r>
            <a:endParaRPr sz="2000">
              <a:latin typeface="Calibri"/>
              <a:cs typeface="Calibri"/>
            </a:endParaRPr>
          </a:p>
          <a:p>
            <a:pPr marL="12700" marR="1754505">
              <a:lnSpc>
                <a:spcPct val="141700"/>
              </a:lnSpc>
            </a:pPr>
            <a:r>
              <a:rPr dirty="0" sz="2000">
                <a:latin typeface="Calibri"/>
                <a:cs typeface="Calibri"/>
              </a:rPr>
              <a:t>Support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real-</a:t>
            </a:r>
            <a:r>
              <a:rPr dirty="0" sz="2000">
                <a:latin typeface="Calibri"/>
                <a:cs typeface="Calibri"/>
              </a:rPr>
              <a:t>time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tweet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analysis. </a:t>
            </a:r>
            <a:r>
              <a:rPr dirty="0" sz="2000">
                <a:latin typeface="Calibri"/>
                <a:cs typeface="Calibri"/>
              </a:rPr>
              <a:t>Improve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text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preprocessing.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41700"/>
              </a:lnSpc>
            </a:pPr>
            <a:r>
              <a:rPr dirty="0" sz="2000">
                <a:latin typeface="Calibri"/>
                <a:cs typeface="Calibri"/>
              </a:rPr>
              <a:t>Compare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multiple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machine-</a:t>
            </a:r>
            <a:r>
              <a:rPr dirty="0" sz="2000">
                <a:latin typeface="Calibri"/>
                <a:cs typeface="Calibri"/>
              </a:rPr>
              <a:t>learning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algorithms. </a:t>
            </a:r>
            <a:r>
              <a:rPr dirty="0" sz="2000">
                <a:latin typeface="Calibri"/>
                <a:cs typeface="Calibri"/>
              </a:rPr>
              <a:t>Deploy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sentiment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web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application.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11.</a:t>
            </a:r>
            <a:r>
              <a:rPr dirty="0" spc="-40"/>
              <a:t> </a:t>
            </a:r>
            <a:r>
              <a:rPr dirty="0" spc="-1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432458"/>
            <a:ext cx="9732010" cy="2753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internship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provided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practical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exposure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Artificial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Intelligence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Intern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Codec </a:t>
            </a:r>
            <a:r>
              <a:rPr dirty="0" sz="2200">
                <a:latin typeface="Calibri"/>
                <a:cs typeface="Calibri"/>
              </a:rPr>
              <a:t>Technologies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Pvt.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Ltd.</a:t>
            </a:r>
            <a:endParaRPr sz="2200">
              <a:latin typeface="Calibri"/>
              <a:cs typeface="Calibri"/>
            </a:endParaRPr>
          </a:p>
          <a:p>
            <a:pPr marL="12700" marR="445134">
              <a:lnSpc>
                <a:spcPct val="100000"/>
              </a:lnSpc>
              <a:spcBef>
                <a:spcPts val="1000"/>
              </a:spcBef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projects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demonstrate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applied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learning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deep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learning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Natural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Language Processing.</a:t>
            </a:r>
            <a:endParaRPr sz="2200">
              <a:latin typeface="Calibri"/>
              <a:cs typeface="Calibri"/>
            </a:endParaRPr>
          </a:p>
          <a:p>
            <a:pPr marL="12700" marR="614680">
              <a:lnSpc>
                <a:spcPct val="100000"/>
              </a:lnSpc>
              <a:spcBef>
                <a:spcPts val="1000"/>
              </a:spcBef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internship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strengthened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understanding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model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development,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training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and </a:t>
            </a:r>
            <a:r>
              <a:rPr dirty="0" sz="2200" spc="-10">
                <a:latin typeface="Calibri"/>
                <a:cs typeface="Calibri"/>
              </a:rPr>
              <a:t>evaluation.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2200">
                <a:latin typeface="Calibri"/>
                <a:cs typeface="Calibri"/>
              </a:rPr>
              <a:t>Thank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You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23124RN87I</dc:creator>
  <dc:title>file.pdf</dc:title>
  <dcterms:created xsi:type="dcterms:W3CDTF">2026-08-30T17:58:32Z</dcterms:created>
  <dcterms:modified xsi:type="dcterms:W3CDTF">2026-08-30T17:58:32Z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2026-08-30T00:00:00Z</vt:filetime>
  </property>
  <property fmtid="{D5CDD505-2E9C-101B-9397-08002B2CF9AE}" pid="4" name="Creator">
    <vt:lpwstr>www.smallpdf.com</vt:lpwstr>
  </property>
  <property fmtid="{D5CDD505-2E9C-101B-9397-08002B2CF9AE}" pid="5" name="LastSaved">
    <vt:filetime>2026-08-30T00:00:00Z</vt:filetime>
  </property>
  <property fmtid="{D5CDD505-2E9C-101B-9397-08002B2CF9AE}" pid="6" name="Producer">
    <vt:lpwstr>www.smallpdf.com</vt:lpwstr>
  </property>
</Properties>
</file>